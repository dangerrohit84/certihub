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5303520"/>
            <a:ext cx="2286000" cy="2286000"/>
          </a:xfrm>
          <a:prstGeom prst="ellipse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914400"/>
            <a:ext cx="1097280" cy="10972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CERTIHUB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DCFF"/>
                </a:solidFill>
                <a:latin typeface="Calibri"/>
              </a:defRPr>
            </a:pPr>
            <a:r>
              <a:t>The Intelligent</a:t>
            </a:r>
            <a:br/>
            <a:r>
              <a:t>Credential Hub</a:t>
            </a:r>
            <a:br/>
            <a:r>
              <a:t>for the Modern</a:t>
            </a:r>
            <a:br/>
            <a:r>
              <a:t>Professional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  <a:latin typeface="Calibri"/>
              </a:defRPr>
            </a:pPr>
            <a:r>
              <a:t>Summer Internship Presentation</a:t>
            </a:r>
            <a:br/>
            <a:r>
              <a:t>Semester V  | 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731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8220"/>
                </a:solidFill>
                <a:latin typeface="Calibri"/>
              </a:defRPr>
            </a:pPr>
            <a:r>
              <a:t>ADITYA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188720"/>
            <a:ext cx="137160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55A5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148840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214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BATTAGANI SURENDRA KUMAR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2651759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6243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BONDI KALYANI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0" y="3154680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1272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NAKKA DURGA SATYA SRI MADHAVI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3657600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6301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POOJITHA BELLUM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4160520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1330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CHAKRADHAR CHOWDARY GUNNAM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0" y="4663440"/>
            <a:ext cx="256032" cy="25603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4636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932"/>
                </a:solidFill>
                <a:latin typeface="Calibri"/>
              </a:defRPr>
            </a:pPr>
            <a:r>
              <a:t>DESINA ROHIT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Under the Guidance 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760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278"/>
                </a:solidFill>
                <a:latin typeface="Calibri"/>
              </a:defRPr>
            </a:pPr>
            <a:r>
              <a:t>[GUIDE NAME]  ·  [DEPARTMENT]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28800" cy="36576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8220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Traditional certificates are static, unverifiable, and disconnected from career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4747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926080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Recruitment</a:t>
            </a:r>
            <a:br/>
            <a:r>
              <a:t>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Recruiters manually verify</a:t>
            </a:r>
            <a:br/>
            <a:r>
              <a:t>credentials through calls</a:t>
            </a:r>
            <a:br/>
            <a:r>
              <a:t>and email exchanges.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560320"/>
            <a:ext cx="3383280" cy="34747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19" y="2926080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19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749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Verification</a:t>
            </a:r>
            <a:br/>
            <a:r>
              <a:t>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Authenticating certificates</a:t>
            </a:r>
            <a:br/>
            <a:r>
              <a:t>requires manual handshake</a:t>
            </a:r>
            <a:br/>
            <a:r>
              <a:t>between institutions.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560320"/>
            <a:ext cx="3383280" cy="34747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2926080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Data</a:t>
            </a:r>
            <a:br/>
            <a:r>
              <a:t>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Valuable data is trapped</a:t>
            </a:r>
            <a:br/>
            <a:r>
              <a:t>in images and PDFs,</a:t>
            </a:r>
            <a:br/>
            <a:r>
              <a:t>unanalyzable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28800" cy="36576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55A5"/>
                </a:solidFill>
                <a:latin typeface="Calibri"/>
              </a:defRPr>
            </a:pPr>
            <a:r>
              <a:t>02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Our Solution — CertiHub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An AI-first platform that transforms static certificates into a verified, career-driven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200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926080"/>
            <a:ext cx="640080" cy="64008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Automated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Llama-3.2 Vision AI reads</a:t>
            </a:r>
            <a:br/>
            <a:r>
              <a:t>certificates with 95%+ accuracy,</a:t>
            </a:r>
            <a:br/>
            <a:r>
              <a:t>extracting all key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560320"/>
            <a:ext cx="3383280" cy="3200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19" y="2926080"/>
            <a:ext cx="640080" cy="64008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19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Smart Issuance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42976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Organizations batch-issue via</a:t>
            </a:r>
            <a:br/>
            <a:r>
              <a:t>AI name-matching from CSV</a:t>
            </a:r>
            <a:br/>
            <a:r>
              <a:t>with zero manual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560320"/>
            <a:ext cx="3383280" cy="3200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2926080"/>
            <a:ext cx="640080" cy="64008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932"/>
                </a:solidFill>
                <a:latin typeface="Calibri"/>
              </a:defRPr>
            </a:pPr>
            <a:r>
              <a:t>Dynamic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976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Real-time skills matrix,</a:t>
            </a:r>
            <a:br/>
            <a:r>
              <a:t>career readiness scores,</a:t>
            </a:r>
            <a:br/>
            <a:r>
              <a:t>and personalized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6576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55A5"/>
                </a:solidFill>
                <a:latin typeface="Calibri"/>
              </a:defRPr>
            </a:pPr>
            <a:r>
              <a:t>03 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1737360"/>
          </a:xfrm>
          <a:prstGeom prst="rect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55A5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React 19 · Tailwind CSS · Framer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73152" cy="17373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19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822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Node.js · Express 5 · Multer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73152" cy="1737360"/>
          </a:xfrm>
          <a:prstGeom prst="rect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55A5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Firebase Firestore ·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73152" cy="17373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8220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Groq Cloud · Llama 3.3 · Llama 3.2 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0624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73152" cy="1737360"/>
          </a:xfrm>
          <a:prstGeom prst="rect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19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55A5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19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Tesseract.js · pdf-parse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383280" cy="1737360"/>
          </a:xfrm>
          <a:prstGeom prst="round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206240"/>
            <a:ext cx="73152" cy="17373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8220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Cloudinary · Signed URLs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55A5"/>
                </a:solidFill>
                <a:latin typeface="Calibri"/>
              </a:defRPr>
            </a:pPr>
            <a: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645920" cy="256032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User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Certificate</a:t>
            </a:r>
            <a:br/>
            <a:r>
              <a:t>Image/PDF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82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286000"/>
            <a:ext cx="1645920" cy="25603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2560320"/>
            <a:ext cx="731520" cy="73152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Cloudinary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Secure</a:t>
            </a:r>
            <a:br/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82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286000"/>
            <a:ext cx="1645920" cy="256032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Llama 3.2</a:t>
            </a:r>
            <a:br/>
            <a:r>
              <a:t>90B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82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286000"/>
            <a:ext cx="1645920" cy="25603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2560320"/>
            <a:ext cx="731520" cy="73152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OCR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Tesseract +</a:t>
            </a:r>
            <a:br/>
            <a:r>
              <a:t>Llama 3.3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82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286000"/>
            <a:ext cx="1645920" cy="256032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Merge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Best Result</a:t>
            </a:r>
            <a:br/>
            <a:r>
              <a:t>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82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2286000"/>
            <a:ext cx="1645920" cy="256032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52760" y="2560320"/>
            <a:ext cx="731520" cy="73152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932"/>
                </a:solidFill>
                <a:latin typeface="Calibri"/>
              </a:defRPr>
            </a:pPr>
            <a:r>
              <a:t>Firestore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840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Data</a:t>
            </a:r>
            <a:br/>
            <a:r>
              <a:t>Saved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Dual-Engine Pipeline: Vision AI reads images while OCR extracts text for LLM parsing.</a:t>
            </a:r>
            <a:br/>
            <a:r>
              <a:t>Merge Logic selects the best result — achieving 95%+ extraction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8220"/>
                </a:solidFill>
                <a:latin typeface="Calibri"/>
              </a:defRPr>
            </a:pPr>
            <a:r>
              <a:t>05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Student Flow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2926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932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Firebase Auth</a:t>
            </a:r>
            <a:br/>
            <a:r>
              <a:t>with email/Google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286000"/>
            <a:ext cx="2011680" cy="292608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2560320"/>
            <a:ext cx="731520" cy="73152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932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Upload certificate</a:t>
            </a:r>
            <a:br/>
            <a:r>
              <a:t>files easily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011680" cy="2926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932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2-3 second</a:t>
            </a:r>
            <a:br/>
            <a:r>
              <a:t>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286000"/>
            <a:ext cx="2011680" cy="292608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0" y="2560320"/>
            <a:ext cx="731520" cy="73152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932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Structured data</a:t>
            </a:r>
            <a:br/>
            <a:r>
              <a:t>with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286000"/>
            <a:ext cx="2011680" cy="2926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2560320"/>
            <a:ext cx="731520" cy="7315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932"/>
                </a:solidFill>
                <a:latin typeface="Calibri"/>
              </a:defRPr>
            </a:pPr>
            <a:r>
              <a:t>Career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Personalized</a:t>
            </a:r>
            <a:br/>
            <a:r>
              <a:t>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8220"/>
                </a:solidFill>
                <a:latin typeface="Calibri"/>
              </a:defRPr>
            </a:pPr>
            <a:r>
              <a:t>From upload to career insights — under 5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55A5"/>
                </a:solidFill>
                <a:latin typeface="Calibri"/>
              </a:defRPr>
            </a:pPr>
            <a:r>
              <a:t>06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Institutional Flow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2103120" cy="274320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55A5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932"/>
                </a:solidFill>
                <a:latin typeface="Calibri"/>
              </a:defRPr>
            </a:pPr>
            <a:r>
              <a:t>Upload Certs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Upload folder of</a:t>
            </a:r>
            <a:br/>
            <a:r>
              <a:t>certificate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286000"/>
            <a:ext cx="2103120" cy="27432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560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8220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932"/>
                </a:solidFill>
                <a:latin typeface="Calibri"/>
              </a:defRPr>
            </a:pPr>
            <a:r>
              <a:t>Upload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Map names to</a:t>
            </a:r>
            <a:br/>
            <a:r>
              <a:t>email addresses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2103120" cy="274320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560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55A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932"/>
                </a:solidFill>
                <a:latin typeface="Calibri"/>
              </a:defRPr>
            </a:pPr>
            <a:r>
              <a:t>AI Reads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566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Vision AI reads</a:t>
            </a:r>
            <a:br/>
            <a:r>
              <a:t>each certificate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286000"/>
            <a:ext cx="2103120" cy="27432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560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822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932"/>
                </a:solidFill>
                <a:latin typeface="Calibri"/>
              </a:defRPr>
            </a:pPr>
            <a:r>
              <a:t>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566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Fuzzy-match with</a:t>
            </a:r>
            <a:br/>
            <a:r>
              <a:t>CSV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286000"/>
            <a:ext cx="2103120" cy="274320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560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55A5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932"/>
                </a:solidFill>
                <a:latin typeface="Calibri"/>
              </a:defRPr>
            </a:pPr>
            <a:r>
              <a:t>Auto-Issue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566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Certificates sent</a:t>
            </a:r>
            <a:br/>
            <a:r>
              <a:t>to recipients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55A5"/>
                </a:solidFill>
                <a:latin typeface="Calibri"/>
              </a:defRPr>
            </a:pPr>
            <a:r>
              <a:t>Smart Batch Issuance: Zero manual work — AI handles extraction, matching, and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8220"/>
                </a:solidFill>
                <a:latin typeface="Calibri"/>
              </a:defRPr>
            </a:pPr>
            <a:r>
              <a:t>07 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Key Outcomes &amp;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20116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8220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Extraction</a:t>
            </a:r>
            <a:br/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201168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355A5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AI Response</a:t>
            </a:r>
            <a:br/>
            <a: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2560320" cy="20116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822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User</a:t>
            </a:r>
            <a:br/>
            <a:r>
              <a:t>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2560320" cy="201168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355A5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617720"/>
            <a:ext cx="201168" cy="20116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Self-Healing AI Extraction with dual-engine fallback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074920"/>
            <a:ext cx="201168" cy="201168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AI Career Strategist with 5-domain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532120"/>
            <a:ext cx="201168" cy="20116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Smart Batch Issuance with CSV name-matching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5989320"/>
            <a:ext cx="201168" cy="201168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Public portfolio with shareable verification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55A5"/>
                </a:solidFill>
                <a:latin typeface="Calibri"/>
              </a:defRPr>
            </a:pPr>
            <a:r>
              <a:t>08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932"/>
                </a:solidFill>
                <a:latin typeface="Calibri Light"/>
              </a:defRPr>
            </a:pPr>
            <a:r>
              <a:t>Practical Applications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3200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Verified portfolios with</a:t>
            </a:r>
            <a:br/>
            <a:r>
              <a:t>career readiness scores</a:t>
            </a:r>
            <a:br/>
            <a:r>
              <a:t>and AI roadmaps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560320" cy="320040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2560320"/>
            <a:ext cx="914400" cy="91440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  <a:latin typeface="Calibri"/>
              </a:defRPr>
            </a:pPr>
            <a:r>
              <a:t>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06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Automated batch issuance</a:t>
            </a:r>
            <a:br/>
            <a:r>
              <a:t>and departmental</a:t>
            </a:r>
            <a:br/>
            <a:r>
              <a:t>analytics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2560320" cy="3200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560320"/>
            <a:ext cx="914400" cy="9144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AI-powered name-matching</a:t>
            </a:r>
            <a:br/>
            <a:r>
              <a:t>for zero-effort credential</a:t>
            </a:r>
            <a:br/>
            <a:r>
              <a:t>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560320"/>
            <a:ext cx="914400" cy="914400"/>
          </a:xfrm>
          <a:prstGeom prst="ellipse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  <a:latin typeface="Calibri"/>
              </a:defRPr>
            </a:pPr>
            <a:r>
              <a:t>Recruiters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06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Instant verification via</a:t>
            </a:r>
            <a:br/>
            <a:r>
              <a:t>unique shareable links</a:t>
            </a:r>
            <a:br/>
            <a:r>
              <a:t>eliminating manual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3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74720" y="-914400"/>
            <a:ext cx="2286000" cy="2286000"/>
          </a:xfrm>
          <a:prstGeom prst="ellipse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914400"/>
            <a:ext cx="1097280" cy="10972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82880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CFF"/>
                </a:solidFill>
                <a:latin typeface="Calibri"/>
              </a:defRPr>
            </a:pPr>
            <a:r>
              <a:t>Questions &amp;</a:t>
            </a:r>
            <a:br/>
            <a:r>
              <a:t>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CertiHub demonstrates how</a:t>
            </a:r>
            <a:br/>
            <a:r>
              <a:t>Multimodal AI can transform</a:t>
            </a:r>
            <a:br/>
            <a:r>
              <a:t>static certificates into a</a:t>
            </a:r>
            <a:br/>
            <a:r>
              <a:t>dynamic career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926080"/>
            <a:ext cx="182880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8220"/>
                </a:solidFill>
                <a:latin typeface="Calibri"/>
              </a:defRPr>
            </a:pPr>
            <a:r>
              <a:t>ADITYA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55A5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BATTAGANI SURENDRA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553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BONDI KALYANI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901183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NAKKA DURGA SATYA SRI MADHAVI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24865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POOJITHA BELLUM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59612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CHAKRADHAR CHOWDARY GUNNAM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DESINA ROHIT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92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Semester V  |  Summer Internship  |  June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